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0A0F1E"/>
                </a:solidFill>
                <a:latin typeface="Arial"/>
              </a:rPr>
              <a:t>עוד ביקורות 5 כוכבים. פחות הפתעות.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4748B"/>
                </a:solidFill>
                <a:latin typeface="Arial"/>
              </a:rPr>
              <a:t>Vomni שולחת ללקוחות מרוצים בקשת ביקורת ב-Google אחרי כל ביקור. לקוחות לא מרוצים? הם שולחים לכם הודעה פרטית — ולא רושמים ביקורת גרועה.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606040"/>
            <a:ext cx="3840480" cy="347472"/>
          </a:xfrm>
          <a:prstGeom prst="rect">
            <a:avLst/>
          </a:prstGeom>
          <a:solidFill>
            <a:srgbClr val="E6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6060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96"/>
                </a:solidFill>
                <a:latin typeface="Arial"/>
              </a:rPr>
              <a:t>פיתרון ניהול מוניטין לעסקים ישראלים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108960"/>
            <a:ext cx="42976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התחל לקבל ביקורות — מ-₪164/חודש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703320"/>
            <a:ext cx="4297680" cy="457200"/>
          </a:xfrm>
          <a:prstGeom prst="rect">
            <a:avLst/>
          </a:prstGeom>
          <a:noFill/>
          <a:ln w="1905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703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1E"/>
                </a:solidFill>
                <a:latin typeface="Arial"/>
              </a:rPr>
              <a:t>הזמן הדגמה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A0F1E"/>
                </a:solidFill>
                <a:latin typeface="Arial"/>
              </a:rPr>
              <a:t>★★★★★  מושפע מעסקים שהמוניטין שלהם הוא הכל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315968"/>
            <a:ext cx="2834640" cy="347472"/>
          </a:xfrm>
          <a:prstGeom prst="rect">
            <a:avLst/>
          </a:prstGeom>
          <a:solidFill>
            <a:srgbClr val="E6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Arial"/>
              </a:rPr>
              <a:t>✓  98% שיעור פתיחה ל-SMS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4315968"/>
            <a:ext cx="2834640" cy="347472"/>
          </a:xfrm>
          <a:prstGeom prst="rect">
            <a:avLst/>
          </a:prstGeom>
          <a:solidFill>
            <a:srgbClr val="E6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Arial"/>
              </a:rPr>
              <a:t>✓  הגדרה ב-5 דקות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4315968"/>
            <a:ext cx="2834640" cy="347472"/>
          </a:xfrm>
          <a:prstGeom prst="rect">
            <a:avLst/>
          </a:prstGeom>
          <a:solidFill>
            <a:srgbClr val="E6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Arial"/>
              </a:rPr>
              <a:t>✓  החזר כסף תוך 14 יום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114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Arial"/>
              </a:rPr>
              <a:t>פגיעה במוניטין קורית תוך דקות. ההתאוששות לוקחת חודשים.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08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CCDDFF"/>
                </a:solidFill>
                <a:latin typeface="Arial"/>
              </a:rPr>
              <a:t>ביקורת גרועה אחת עולה לעסק השירות הממוצע 22% מהלקוחות הפוטנציאלים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331720"/>
            <a:ext cx="2743200" cy="228600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514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96"/>
                </a:solidFill>
                <a:latin typeface="Arial"/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520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מהצרכנים קוראים ביקורות לפני ביקור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331720"/>
            <a:ext cx="2743200" cy="228600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2514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4D4D"/>
                </a:solidFill>
                <a:latin typeface="Arial"/>
              </a:rPr>
              <a:t>1 מתוך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520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לקוחות לא יחזרו לאחר חוויה גרועה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2743200" cy="228600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C800"/>
                </a:solidFill>
                <a:latin typeface="Arial"/>
              </a:rPr>
              <a:t>4.2★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520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הדירוג המינימלי לתחרותיות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A0F1E"/>
                </a:solidFill>
                <a:latin typeface="Arial"/>
              </a:rPr>
              <a:t>שלושה שלבים. ואז זה רץ לבד.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4748B"/>
                </a:solidFill>
                <a:latin typeface="Arial"/>
              </a:rPr>
              <a:t>ההגדרה לוקחת 5 דקות בלבד.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743200" cy="3840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94360" cy="5943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0F1E"/>
                </a:solidFill>
                <a:latin typeface="Arial"/>
              </a:rPr>
              <a:t>הגדירו העברת אימייל פעם אחת. זהו.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3832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Arial"/>
              </a:rPr>
              <a:t>הגדירו העברת אימייל אחת ממערכת ההזמנות שלכם אל Vomni. לעולם לא תצטרכו לגעת בזה שוב.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554480"/>
            <a:ext cx="2743200" cy="3840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594360" cy="5943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0F1E"/>
                </a:solidFill>
                <a:latin typeface="Arial"/>
              </a:rPr>
              <a:t>אנחנו שולחים את בקשת הביקורת המושלמת.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33832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Arial"/>
              </a:rPr>
              <a:t>אחרי כל תור, הלקוח מקבל SMS אישי בזמן הנכון. נקרא כאילו הגיע מכם אישית.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3840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737360"/>
            <a:ext cx="594360" cy="5943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0F1E"/>
                </a:solidFill>
                <a:latin typeface="Arial"/>
              </a:rPr>
              <a:t>לקוחות מרוצים הולכים ל-Google.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832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Arial"/>
              </a:rPr>
              <a:t>4-5 כוכבים → Google. 1-3 כוכבים → אליכם בפרטי לפני שיוצא לציבור.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A0F1E"/>
                </a:solidFill>
                <a:latin typeface="Arial"/>
              </a:rPr>
              <a:t>כל מה שצריך. במקום אחד.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4748B"/>
                </a:solidFill>
                <a:latin typeface="Arial"/>
              </a:rPr>
              <a:t>ראו את המוצר. כולו.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64592" cy="16459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64592" cy="16459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554480"/>
            <a:ext cx="164592" cy="16459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4447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app.vomni.io/dashboard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8412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606040" cy="11887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F1E"/>
                </a:solidFill>
                <a:latin typeface="Arial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בקשות שנשלחו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920240"/>
            <a:ext cx="2606040" cy="11887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0116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F1E"/>
                </a:solidFill>
                <a:latin typeface="Arial"/>
              </a:rPr>
              <a:t>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51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שיעור השלמה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920240"/>
            <a:ext cx="2606040" cy="11887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116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F1E"/>
                </a:solidFill>
                <a:latin typeface="Arial"/>
              </a:rPr>
              <a:t>4.3★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51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דירוג ממוצע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2606040" cy="11887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F1E"/>
                </a:solidFill>
                <a:latin typeface="Arial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ביקורות Google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337560"/>
            <a:ext cx="2606040" cy="11887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34290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F1E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690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ביקורות שליליות שנתפסו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337560"/>
            <a:ext cx="2606040" cy="11887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4290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F1E"/>
                </a:solidFill>
                <a:latin typeface="Arial"/>
              </a:rPr>
              <a:t>8.2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0690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ביקורות/שבוע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A0F1E"/>
                </a:solidFill>
                <a:latin typeface="Arial"/>
              </a:rPr>
              <a:t>פעילות אחרונה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92024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303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896"/>
                </a:solidFill>
                <a:latin typeface="Arial"/>
              </a:rPr>
              <a:t>✓ יוסי לוי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5212080"/>
            <a:ext cx="192024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52303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Arial"/>
              </a:rPr>
              <a:t>⚠ מיכל כהן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5212080"/>
            <a:ext cx="192024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2303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896"/>
                </a:solidFill>
                <a:latin typeface="Arial"/>
              </a:rPr>
              <a:t>✓ אחמד חסן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5212080"/>
            <a:ext cx="192024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2303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→ נועה לב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A0F1E"/>
                </a:solidFill>
                <a:latin typeface="Arial"/>
              </a:rPr>
              <a:t>תפסו ביקורות שליליות לפני שהן יוצאות לאוויר.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4748B"/>
                </a:solidFill>
                <a:latin typeface="Arial"/>
              </a:rPr>
              <a:t>לקוחות לא מרוצים נשמרים אצלכם — לא ב-Google.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743200" cy="4114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640080" cy="2926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חדש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4D4D"/>
                </a:solidFill>
                <a:latin typeface="Arial"/>
              </a:rPr>
              <a:t>★★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0F1E"/>
                </a:solidFill>
                <a:latin typeface="Arial"/>
              </a:rPr>
              <a:t>טיילור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80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Arial"/>
              </a:rPr>
              <a:t>"הדעיכה הייתה לא אחידה..."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03320"/>
            <a:ext cx="2651760" cy="1600200"/>
          </a:xfrm>
          <a:prstGeom prst="rect">
            <a:avLst/>
          </a:prstGeom>
          <a:solidFill>
            <a:srgbClr val="E6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74903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896"/>
                </a:solidFill>
                <a:latin typeface="Arial"/>
              </a:rPr>
              <a:t>תגובת AI: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4164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0F1E"/>
                </a:solidFill>
                <a:latin typeface="Arial"/>
              </a:rPr>
              <a:t>שלום טיילור, אני מתנצל מאוד שהביקור שלך לא עמד בסטנדרט...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554480"/>
            <a:ext cx="2743200" cy="4114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691640"/>
            <a:ext cx="640080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691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טופל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C800"/>
                </a:solidFill>
                <a:latin typeface="Arial"/>
              </a:rPr>
              <a:t>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2468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0F1E"/>
                </a:solidFill>
                <a:latin typeface="Arial"/>
              </a:rPr>
              <a:t>איידן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2880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Arial"/>
              </a:rPr>
              <a:t>"השירות היה בסדר אבל החנות הייתה עמוסה..."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743200" cy="4114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1691640"/>
            <a:ext cx="640080" cy="2926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691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חדש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4D4D"/>
                </a:solidFill>
                <a:latin typeface="Arial"/>
              </a:rPr>
              <a:t>★★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68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0F1E"/>
                </a:solidFill>
                <a:latin typeface="Arial"/>
              </a:rPr>
              <a:t>יצחק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Arial"/>
              </a:rPr>
              <a:t>"זמן ההמתנה היה ארוך מדי..."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A0F1E"/>
                </a:solidFill>
                <a:latin typeface="Arial"/>
              </a:rPr>
              <a:t>דוחות שבועיים ותובנות AI. אוטומטית.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4748B"/>
                </a:solidFill>
                <a:latin typeface="Arial"/>
              </a:rPr>
              <a:t>דעו בדיוק מה קורה עם המוניטין שלכם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Arial"/>
              </a:rPr>
              <a:t>התפלגות דירוגים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0116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96"/>
                </a:solidFill>
                <a:latin typeface="Arial"/>
              </a:rPr>
              <a:t>★★★★★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46304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Arial"/>
              </a:rPr>
              <a:t>בקשות שנשלחו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20116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96"/>
                </a:solidFill>
                <a:latin typeface="Arial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6304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Arial"/>
              </a:rPr>
              <a:t>שיעור השלמה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0116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96"/>
                </a:solidFill>
                <a:latin typeface="Arial"/>
              </a:rPr>
              <a:t>66%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7999" y="1463040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1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Arial"/>
              </a:rPr>
              <a:t>ביקורות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20116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96"/>
                </a:solidFill>
                <a:latin typeface="Arial"/>
              </a:rPr>
              <a:t>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E6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4787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896"/>
                </a:solidFill>
                <a:latin typeface="Arial"/>
              </a:rPr>
              <a:t>שיעור השלמה מעל הממוצע — 66% גבוה ב-26 נקודות מהממוצע בתעשייה (40%)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8595360" cy="109728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736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26000"/>
                </a:solidFill>
                <a:latin typeface="Arial"/>
              </a:rPr>
              <a:t>3 ביקורות שליליות נתפסו — טופלו בפרטי החודש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A0F1E"/>
                </a:solidFill>
                <a:latin typeface="Arial"/>
              </a:rPr>
              <a:t>נבנה לעסקים שחיים ממוניטין.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C800"/>
                </a:solidFill>
                <a:latin typeface="Arial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A0F1E"/>
                </a:solidFill>
                <a:latin typeface="Arial"/>
              </a:rPr>
              <a:t>"מ-34 ביקורות ל-180 בארבעה חודשים. אנחנו עכשיו התוצאה הראשונה ל'ספר תל אביב'."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572000"/>
            <a:ext cx="265176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0F1E"/>
                </a:solidFill>
                <a:latin typeface="Arial"/>
              </a:rPr>
              <a:t>מרקוס 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120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rial"/>
              </a:rPr>
              <a:t>Kings Cuts תל אביב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C800"/>
                </a:solidFill>
                <a:latin typeface="Arial"/>
              </a:rPr>
              <a:t>★★★★★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1874519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A0F1E"/>
                </a:solidFill>
                <a:latin typeface="Arial"/>
              </a:rPr>
              <a:t>"שלוש תלונות טופלו בפרטי החודש שעבר. אף אחת מהן לא הגיעה ל-Google."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4572000"/>
            <a:ext cx="265176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0F1E"/>
                </a:solidFill>
                <a:latin typeface="Arial"/>
              </a:rPr>
              <a:t>פריה כ.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5120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rial"/>
              </a:rPr>
              <a:t>סטודיו גלמור לשיער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C800"/>
                </a:solidFill>
                <a:latin typeface="Arial"/>
              </a:rP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74519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A0F1E"/>
                </a:solidFill>
                <a:latin typeface="Arial"/>
              </a:rPr>
              <a:t>"שמונה דקות להגדרה. שישים ביקורות חדשות. לא נגעתי בזה מאז היום הראשון."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72000"/>
            <a:ext cx="265176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0F1E"/>
                </a:solidFill>
                <a:latin typeface="Arial"/>
              </a:rPr>
              <a:t>תום 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20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rial"/>
              </a:rPr>
              <a:t>מסעדת אוק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Arial"/>
              </a:rPr>
              <a:t>תמחור פשוט וישיר.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DDFF"/>
                </a:solidFill>
                <a:latin typeface="Arial"/>
              </a:rPr>
              <a:t>ללא דמי הגדרה. ללא חוזים ארוכים. ביטול בכל עת.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00200"/>
            <a:ext cx="2743200" cy="411480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Arial"/>
              </a:rPr>
              <a:t>סטרטר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00C896"/>
                </a:solidFill>
                <a:latin typeface="Arial"/>
              </a:rPr>
              <a:t>₪164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/חודש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383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Arial"/>
              </a:rPr>
              <a:t>₪1,400/שנה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794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עד 100 בקשות/חודש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78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לוח בקרה בסיסי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562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תמיכה באימייל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2743200" cy="4114800"/>
          </a:xfrm>
          <a:prstGeom prst="rect">
            <a:avLst/>
          </a:prstGeom>
          <a:solidFill>
            <a:srgbClr val="151C32"/>
          </a:solidFill>
          <a:ln w="317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481328"/>
            <a:ext cx="1828800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הכי פופולרי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Arial"/>
              </a:rPr>
              <a:t>צמיחה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00C896"/>
                </a:solidFill>
                <a:latin typeface="Arial"/>
              </a:rPr>
              <a:t>₪370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/חודש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383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Arial"/>
              </a:rPr>
              <a:t>₪3,272/שנה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794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הכל בסטרטר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178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300 בקשות/חודש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562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AI + אנליטיקס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946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דוחות שבועיים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600200"/>
            <a:ext cx="2743200" cy="411480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Arial"/>
              </a:rPr>
              <a:t>פרו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00C896"/>
                </a:solidFill>
                <a:latin typeface="Arial"/>
              </a:rPr>
              <a:t>₪698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/חודש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383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Arial"/>
              </a:rPr>
              <a:t>₪7,018/שנה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794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הכל בצמיחה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178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ללא הגבלה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562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✓  SMS ייעודי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946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AABBCC"/>
                </a:solidFill>
                <a:latin typeface="Arial"/>
              </a:rPr>
              <a:t>מתאים ל: עסקים עם נפח גבוה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806440"/>
            <a:ext cx="8595360" cy="59436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8521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96"/>
                </a:solidFill>
                <a:latin typeface="Arial"/>
              </a:rPr>
              <a:t>לא רואים יותר ביקורות ב-14 הימים? החזר כסף מלא.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Arial"/>
              </a:rPr>
              <a:t>ראו בדיוק איך Vomni עובד לעסק שלכם.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DDFF"/>
                </a:solidFill>
                <a:latin typeface="Arial"/>
              </a:rPr>
              <a:t>פגשו מומחה פלטפורמה. ללא לחץ. 30 דקות.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1691640"/>
            <a:ext cx="320040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1691640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"/>
              </a:rPr>
              <a:t>הדגמה חיה המותאמת לסוג העסק שלכם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286000"/>
            <a:ext cx="320040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286000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"/>
              </a:rPr>
              <a:t>ראו תוצאות אמיתיות מעסקים כמו שלכם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880360"/>
            <a:ext cx="320040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80360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Arial"/>
              </a:rPr>
              <a:t>התחילו לעבוד באותו יום אם תחליטו להמשיך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54480"/>
            <a:ext cx="3749039" cy="3474720"/>
          </a:xfrm>
          <a:prstGeom prst="rect">
            <a:avLst/>
          </a:prstGeom>
          <a:solidFill>
            <a:srgbClr val="15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91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הזמן הדגמה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3474720" cy="347472"/>
          </a:xfrm>
          <a:prstGeom prst="rect">
            <a:avLst/>
          </a:prstGeom>
          <a:solidFill>
            <a:srgbClr val="2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768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Arial"/>
              </a:rPr>
              <a:t>שם פרטי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79192"/>
            <a:ext cx="3474720" cy="347472"/>
          </a:xfrm>
          <a:prstGeom prst="rect">
            <a:avLst/>
          </a:prstGeom>
          <a:solidFill>
            <a:srgbClr val="2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157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Arial"/>
              </a:rPr>
              <a:t>שם משפחה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18104"/>
            <a:ext cx="3474720" cy="347472"/>
          </a:xfrm>
          <a:prstGeom prst="rect">
            <a:avLst/>
          </a:prstGeom>
          <a:solidFill>
            <a:srgbClr val="2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54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Arial"/>
              </a:rPr>
              <a:t>אימייל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57016"/>
            <a:ext cx="3474720" cy="347472"/>
          </a:xfrm>
          <a:prstGeom prst="rect">
            <a:avLst/>
          </a:prstGeom>
          <a:solidFill>
            <a:srgbClr val="2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593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Arial"/>
              </a:rPr>
              <a:t>שם העסק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95928"/>
            <a:ext cx="3474720" cy="347472"/>
          </a:xfrm>
          <a:prstGeom prst="rect">
            <a:avLst/>
          </a:prstGeom>
          <a:solidFill>
            <a:srgbClr val="2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325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Arial"/>
              </a:rPr>
              <a:t>טלפון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3474720" cy="347472"/>
          </a:xfrm>
          <a:prstGeom prst="rect">
            <a:avLst/>
          </a:prstGeom>
          <a:solidFill>
            <a:srgbClr val="2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4714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Arial"/>
              </a:rPr>
              <a:t>סוג העסק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794760"/>
            <a:ext cx="4663440" cy="5943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794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הזמן את ההדגמה החינמית שלי 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Arial"/>
              </a:rPr>
              <a:t>שיחה חינמית · 30 דקות · ללא מחויבות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A0F1E"/>
                </a:solidFill>
                <a:latin typeface="Arial"/>
              </a:rPr>
              <a:t>המתחרים שלכם אוספים ביקורות עכשיו.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6517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rial"/>
              </a:rPr>
              <a:t>כל יום בלי Vomni, המתחרה שלכם מקבל את הביקורת במקומכם.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520440"/>
            <a:ext cx="4572000" cy="7772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5204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התחל היום — מ-₪164/חודש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A0F1E"/>
                </a:solidFill>
                <a:latin typeface="Arial"/>
              </a:rPr>
              <a:t>Vomni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5806440"/>
            <a:ext cx="1463040" cy="91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Arial"/>
              </a:rPr>
              <a:t>Vomni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